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6858000" cy="9144000"/>
  <p:embeddedFontLst>
    <p:embeddedFont>
      <p:font typeface="Arial Narrow"/>
      <p:regular r:id="rId29"/>
      <p:bold r:id="rId30"/>
      <p:italic r:id="rId31"/>
      <p:boldItalic r:id="rId32"/>
    </p:embeddedFont>
    <p:embeddedFont>
      <p:font typeface="Tahoma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5" roundtripDataSignature="AMtx7miLyvghzLbMadZUM7wpK4w18RTt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3F5839AD-5A2E-411C-9936-7A9E9EEB7BB4}">
  <a:tblStyle styleId="{3F5839AD-5A2E-411C-9936-7A9E9EEB7BB4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E7E6"/>
          </a:solidFill>
        </a:fill>
      </a:tcStyle>
    </a:wholeTbl>
    <a:band1H>
      <a:tcTxStyle/>
      <a:tcStyle>
        <a:fill>
          <a:solidFill>
            <a:srgbClr val="FFCCCA"/>
          </a:solidFill>
        </a:fill>
      </a:tcStyle>
    </a:band1H>
    <a:band2H>
      <a:tcTxStyle/>
    </a:band2H>
    <a:band1V>
      <a:tcTxStyle/>
      <a:tcStyle>
        <a:fill>
          <a:solidFill>
            <a:srgbClr val="FFCCC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E43F8553-B0B9-4739-A8DE-1176170432C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alNarrow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alNarrow-italic.fntdata"/><Relationship Id="rId30" Type="http://schemas.openxmlformats.org/officeDocument/2006/relationships/font" Target="fonts/ArialNarrow-bold.fntdata"/><Relationship Id="rId11" Type="http://schemas.openxmlformats.org/officeDocument/2006/relationships/slide" Target="slides/slide5.xml"/><Relationship Id="rId33" Type="http://schemas.openxmlformats.org/officeDocument/2006/relationships/font" Target="fonts/Tahoma-regular.fntdata"/><Relationship Id="rId10" Type="http://schemas.openxmlformats.org/officeDocument/2006/relationships/slide" Target="slides/slide4.xml"/><Relationship Id="rId32" Type="http://schemas.openxmlformats.org/officeDocument/2006/relationships/font" Target="fonts/ArialNarrow-boldItalic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Tahoma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6bd6cc3d0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6bd6cc3d01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6bd6cc3d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6bd6cc3d0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6bd6cc3d0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6bd6cc3d01_0_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6bd6cc3d0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6bd6cc3d01_0_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6bd6cc3d0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6bd6cc3d01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6bd6cc3d0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6bd6cc3d01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6bd6cc3d0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6bd6cc3d01_0_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bdf0723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6bdf072346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bdf07234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6bdf072346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6bdf07234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6bdf072346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6bdf07234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6bdf072346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6bdf07234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6bdf072346_0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Z:\cin\estudos\100709_ppt_cin_claro01.jpg" id="14" name="Google Shape;1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0"/>
          <p:cNvSpPr txBox="1"/>
          <p:nvPr>
            <p:ph idx="1" type="subTitle"/>
          </p:nvPr>
        </p:nvSpPr>
        <p:spPr>
          <a:xfrm>
            <a:off x="611188" y="3284538"/>
            <a:ext cx="6048375" cy="204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type="ctrTitle"/>
          </p:nvPr>
        </p:nvSpPr>
        <p:spPr>
          <a:xfrm>
            <a:off x="609600" y="1143000"/>
            <a:ext cx="7772400" cy="173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744538" y="188913"/>
            <a:ext cx="7283450" cy="739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757238" y="1071546"/>
            <a:ext cx="7918450" cy="52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■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744538" y="188913"/>
            <a:ext cx="7283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757238" y="1700213"/>
            <a:ext cx="3883025" cy="4624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560"/>
              </a:spcBef>
              <a:spcAft>
                <a:spcPts val="0"/>
              </a:spcAft>
              <a:buSzPts val="2240"/>
              <a:buChar char="■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26" name="Google Shape;26;p23"/>
          <p:cNvSpPr txBox="1"/>
          <p:nvPr>
            <p:ph idx="2" type="body"/>
          </p:nvPr>
        </p:nvSpPr>
        <p:spPr>
          <a:xfrm>
            <a:off x="4792663" y="1700213"/>
            <a:ext cx="3883025" cy="4624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560"/>
              </a:spcBef>
              <a:spcAft>
                <a:spcPts val="0"/>
              </a:spcAft>
              <a:buSzPts val="2240"/>
              <a:buChar char="■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92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480"/>
              </a:spcBef>
              <a:spcAft>
                <a:spcPts val="0"/>
              </a:spcAft>
              <a:buSzPts val="1920"/>
              <a:buChar char="■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390000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31" name="Google Shape;31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92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480"/>
              </a:spcBef>
              <a:spcAft>
                <a:spcPts val="0"/>
              </a:spcAft>
              <a:buSzPts val="1920"/>
              <a:buChar char="■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390000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744538" y="188913"/>
            <a:ext cx="7283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1160" lvl="0" marL="457200" algn="l">
              <a:spcBef>
                <a:spcPts val="640"/>
              </a:spcBef>
              <a:spcAft>
                <a:spcPts val="0"/>
              </a:spcAft>
              <a:buSzPts val="2560"/>
              <a:buChar char="■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560"/>
              <a:buFont typeface="Noto Sans Symbols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type="title"/>
          </p:nvPr>
        </p:nvSpPr>
        <p:spPr>
          <a:xfrm>
            <a:off x="744538" y="188913"/>
            <a:ext cx="7283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 rot="5400000">
            <a:off x="2404270" y="53181"/>
            <a:ext cx="4624387" cy="791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■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0"/>
          <p:cNvSpPr txBox="1"/>
          <p:nvPr>
            <p:ph type="title"/>
          </p:nvPr>
        </p:nvSpPr>
        <p:spPr>
          <a:xfrm rot="5400000">
            <a:off x="4616451" y="2265362"/>
            <a:ext cx="6135687" cy="1982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" type="body"/>
          </p:nvPr>
        </p:nvSpPr>
        <p:spPr>
          <a:xfrm rot="5400000">
            <a:off x="574676" y="358776"/>
            <a:ext cx="6135687" cy="579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360"/>
              </a:spcBef>
              <a:spcAft>
                <a:spcPts val="0"/>
              </a:spcAft>
              <a:buSzPts val="1440"/>
              <a:buChar char="■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Z:\cin\estudos\papelaria_institucional\ppt_cin_claro02_producao.jpg" id="10" name="Google Shape;10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9"/>
          <p:cNvSpPr txBox="1"/>
          <p:nvPr>
            <p:ph type="title"/>
          </p:nvPr>
        </p:nvSpPr>
        <p:spPr>
          <a:xfrm>
            <a:off x="744538" y="188913"/>
            <a:ext cx="7283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" type="body"/>
          </p:nvPr>
        </p:nvSpPr>
        <p:spPr>
          <a:xfrm>
            <a:off x="757238" y="1700213"/>
            <a:ext cx="7918450" cy="4624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Char char="■"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–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proto.actor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actor-mq" TargetMode="External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685800" y="24098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MOM Reativo Construído no Modelo de Atores</a:t>
            </a:r>
            <a:br>
              <a:rPr lang="pt-BR" sz="4000"/>
            </a:br>
            <a:r>
              <a:rPr lang="pt-BR"/>
              <a:t>(Reactive MOM Built on the Actor Model)</a:t>
            </a:r>
            <a:br>
              <a:rPr lang="pt-BR" sz="4000"/>
            </a:br>
            <a:r>
              <a:rPr lang="pt-BR" sz="4000"/>
              <a:t>Equipe: Carlos Zimmerle (cezl)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744538" y="188913"/>
            <a:ext cx="7283450" cy="739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</a:t>
            </a:r>
            <a:endParaRPr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757238" y="1071546"/>
            <a:ext cx="7918450" cy="52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pt-BR"/>
              <a:t>Construir um middleware orientado a mensagens utilizando o modelo de atores (actor model)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744538" y="188913"/>
            <a:ext cx="7283450" cy="739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Cenário de uso</a:t>
            </a:r>
            <a:endParaRPr/>
          </a:p>
        </p:txBody>
      </p:sp>
      <p:pic>
        <p:nvPicPr>
          <p:cNvPr id="66" name="Google Shape;66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8596" y="928671"/>
            <a:ext cx="6526807" cy="437253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 txBox="1"/>
          <p:nvPr/>
        </p:nvSpPr>
        <p:spPr>
          <a:xfrm>
            <a:off x="757238" y="5445224"/>
            <a:ext cx="7918450" cy="879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43"/>
              <a:buFont typeface="Noto Sans Symbols"/>
              <a:buChar char="■"/>
            </a:pPr>
            <a:r>
              <a:rPr b="1" i="0" lang="pt-BR" sz="167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Escalável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36"/>
              </a:spcBef>
              <a:spcAft>
                <a:spcPts val="0"/>
              </a:spcAft>
              <a:buClr>
                <a:schemeClr val="hlink"/>
              </a:buClr>
              <a:buSzPts val="1343"/>
              <a:buFont typeface="Noto Sans Symbols"/>
              <a:buChar char="■"/>
            </a:pPr>
            <a:r>
              <a:rPr b="1" i="0" lang="pt-BR" sz="167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Desacoplamento/ assincronia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36"/>
              </a:spcBef>
              <a:spcAft>
                <a:spcPts val="0"/>
              </a:spcAft>
              <a:buClr>
                <a:schemeClr val="hlink"/>
              </a:buClr>
              <a:buSzPts val="1343"/>
              <a:buFont typeface="Noto Sans Symbols"/>
              <a:buChar char="■"/>
            </a:pPr>
            <a:r>
              <a:rPr b="1" i="0" lang="pt-BR" sz="167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Integração de empresas/ IoT</a:t>
            </a:r>
            <a:endParaRPr b="1" i="0" sz="16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744538" y="188913"/>
            <a:ext cx="7283450" cy="739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Background</a:t>
            </a:r>
            <a:endParaRPr/>
          </a:p>
        </p:txBody>
      </p:sp>
      <p:sp>
        <p:nvSpPr>
          <p:cNvPr id="73" name="Google Shape;73;p4"/>
          <p:cNvSpPr txBox="1"/>
          <p:nvPr>
            <p:ph idx="1" type="body"/>
          </p:nvPr>
        </p:nvSpPr>
        <p:spPr>
          <a:xfrm>
            <a:off x="757238" y="1071546"/>
            <a:ext cx="7918450" cy="52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pt-BR" sz="2000"/>
              <a:t>Sistemas reativos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/>
              <a:t>Um conjunto de princípios de design arquiteturais que visam criar sistemas modernos mais capazes de lidar com a crescente demanda das aplicações da atualidade.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/>
              <a:t>Manifesto reativo (2013)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pt-BR" sz="1800"/>
              <a:t>Responsivo, resiliente, elástico, message-driven</a:t>
            </a:r>
            <a:endParaRPr sz="18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pt-BR" sz="2000"/>
              <a:t>Modelo de atores (actor model)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pt-BR" sz="1800"/>
              <a:t>1973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pt-BR" sz="1800"/>
              <a:t>Erlang (Ericsson, 1986) </a:t>
            </a:r>
            <a:r>
              <a:rPr lang="pt-BR" sz="1800">
                <a:solidFill>
                  <a:srgbClr val="6D6D6D"/>
                </a:solidFill>
              </a:rPr>
              <a:t>-&gt;</a:t>
            </a:r>
            <a:r>
              <a:rPr lang="pt-BR" sz="1800"/>
              <a:t> </a:t>
            </a:r>
            <a:r>
              <a:rPr lang="pt-BR" sz="1800">
                <a:solidFill>
                  <a:srgbClr val="6D6D6D"/>
                </a:solidFill>
              </a:rPr>
              <a:t>RabbitMQ</a:t>
            </a:r>
            <a:endParaRPr sz="1800">
              <a:solidFill>
                <a:srgbClr val="6D6D6D"/>
              </a:solidFill>
            </a:endParaRPr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</a:pPr>
            <a:r>
              <a:rPr lang="pt-BR" sz="1600"/>
              <a:t>Sistemas escaláveis/ </a:t>
            </a:r>
            <a:r>
              <a:rPr b="1" lang="pt-BR" sz="1600"/>
              <a:t>alta disponibilidade</a:t>
            </a:r>
            <a:endParaRPr b="1"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</a:pPr>
            <a:r>
              <a:rPr lang="pt-BR" sz="1600"/>
              <a:t>AXD 301 switch – 99.9999999% </a:t>
            </a:r>
            <a:r>
              <a:rPr b="1" lang="pt-BR" sz="1600"/>
              <a:t>confiabilidade</a:t>
            </a:r>
            <a:endParaRPr b="1"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pt-BR" sz="1800"/>
              <a:t>Akka (Scala/Java/.NET) / </a:t>
            </a:r>
            <a:r>
              <a:rPr b="1" lang="pt-BR" sz="1800"/>
              <a:t>Quasar</a:t>
            </a:r>
            <a:endParaRPr b="1"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pt-BR" sz="1800"/>
              <a:t>Modelo de programação – aplicações concorrentes, distribuídas, resilientes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</a:pPr>
            <a:r>
              <a:rPr lang="pt-BR" sz="1600"/>
              <a:t>Componentes (atores) - troca de mensagens (assíncrono)</a:t>
            </a:r>
            <a:endParaRPr sz="1600"/>
          </a:p>
          <a:p>
            <a:pPr indent="-228600" lvl="3" marL="1600200" rtl="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</a:pPr>
            <a:r>
              <a:rPr lang="pt-BR" sz="1600"/>
              <a:t>Escalabilidade vertical e horizontal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6bd6cc3d01_0_67"/>
          <p:cNvSpPr txBox="1"/>
          <p:nvPr>
            <p:ph type="title"/>
          </p:nvPr>
        </p:nvSpPr>
        <p:spPr>
          <a:xfrm>
            <a:off x="744538" y="188913"/>
            <a:ext cx="7283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Background</a:t>
            </a:r>
            <a:endParaRPr/>
          </a:p>
        </p:txBody>
      </p:sp>
      <p:sp>
        <p:nvSpPr>
          <p:cNvPr id="79" name="Google Shape;79;g6bd6cc3d01_0_67"/>
          <p:cNvSpPr txBox="1"/>
          <p:nvPr>
            <p:ph idx="1" type="body"/>
          </p:nvPr>
        </p:nvSpPr>
        <p:spPr>
          <a:xfrm>
            <a:off x="757238" y="1071546"/>
            <a:ext cx="7918500" cy="5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pt-BR" sz="2000"/>
              <a:t>Proto.Actor</a:t>
            </a:r>
            <a:endParaRPr/>
          </a:p>
          <a:p>
            <a:pPr indent="-298450" lvl="1" marL="742950" rtl="0" algn="l">
              <a:spcBef>
                <a:spcPts val="400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pt-BR"/>
              <a:t>Go: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http://proto.actor/</a:t>
            </a:r>
            <a:endParaRPr/>
          </a:p>
          <a:p>
            <a:pPr indent="-2984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–"/>
            </a:pPr>
            <a:r>
              <a:rPr lang="pt-BR"/>
              <a:t>Surgiu a partir do Akka.Net</a:t>
            </a:r>
            <a:endParaRPr/>
          </a:p>
          <a:p>
            <a:pPr indent="-2984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–"/>
            </a:pPr>
            <a:r>
              <a:rPr lang="pt-BR"/>
              <a:t>Reuso de tecnologias: gRPC stream/protobuf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800"/>
              <a:buChar char="▪"/>
            </a:pPr>
            <a:r>
              <a:rPr lang="pt-BR"/>
              <a:t>Actor Standard Protocol (C# e Golang)</a:t>
            </a:r>
            <a:endParaRPr/>
          </a:p>
          <a:p>
            <a:pPr indent="-2984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–"/>
            </a:pPr>
            <a:r>
              <a:rPr lang="pt-BR"/>
              <a:t>Atores 		Objetos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800"/>
              <a:buChar char="▪"/>
            </a:pPr>
            <a:r>
              <a:rPr lang="pt-BR"/>
              <a:t>chamadas métodos (OO)		troca de mensagens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800"/>
              <a:buChar char="▪"/>
            </a:pPr>
            <a:r>
              <a:rPr lang="pt-BR"/>
              <a:t>mensagens trocadas		 fila de mensagens (mailbox)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800"/>
              <a:buChar char="▪"/>
            </a:pPr>
            <a:r>
              <a:rPr lang="pt-BR"/>
              <a:t>comunicação através de referência 	    PID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800"/>
              <a:buChar char="▪"/>
            </a:pPr>
            <a:r>
              <a:rPr lang="pt-BR"/>
              <a:t>supervisão parental: restart (padrão), resume, stop, escalate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800"/>
              <a:buChar char="▪"/>
            </a:pPr>
            <a:r>
              <a:rPr lang="pt-BR"/>
              <a:t>supervisão não parental: watch/terminated message</a:t>
            </a:r>
            <a:endParaRPr/>
          </a:p>
        </p:txBody>
      </p:sp>
      <p:sp>
        <p:nvSpPr>
          <p:cNvPr id="80" name="Google Shape;80;g6bd6cc3d01_0_67"/>
          <p:cNvSpPr/>
          <p:nvPr/>
        </p:nvSpPr>
        <p:spPr>
          <a:xfrm>
            <a:off x="2561425" y="3094925"/>
            <a:ext cx="413100" cy="24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6bd6cc3d01_0_67"/>
          <p:cNvSpPr/>
          <p:nvPr/>
        </p:nvSpPr>
        <p:spPr>
          <a:xfrm>
            <a:off x="4927325" y="3474925"/>
            <a:ext cx="413100" cy="24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6bd6cc3d01_0_67"/>
          <p:cNvSpPr/>
          <p:nvPr/>
        </p:nvSpPr>
        <p:spPr>
          <a:xfrm>
            <a:off x="6066625" y="4161725"/>
            <a:ext cx="413100" cy="24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6bd6cc3d01_0_67"/>
          <p:cNvSpPr/>
          <p:nvPr/>
        </p:nvSpPr>
        <p:spPr>
          <a:xfrm>
            <a:off x="4509950" y="3823875"/>
            <a:ext cx="413100" cy="24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>
            <p:ph type="title"/>
          </p:nvPr>
        </p:nvSpPr>
        <p:spPr>
          <a:xfrm>
            <a:off x="744538" y="188913"/>
            <a:ext cx="7283450" cy="739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</a:t>
            </a:r>
            <a:endParaRPr/>
          </a:p>
        </p:txBody>
      </p:sp>
      <p:graphicFrame>
        <p:nvGraphicFramePr>
          <p:cNvPr id="89" name="Google Shape;89;p5"/>
          <p:cNvGraphicFramePr/>
          <p:nvPr/>
        </p:nvGraphicFramePr>
        <p:xfrm>
          <a:off x="755576" y="11967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{3F5839AD-5A2E-411C-9936-7A9E9EEB7BB4}</a:tableStyleId>
              </a:tblPr>
              <a:tblGrid>
                <a:gridCol w="899625"/>
                <a:gridCol w="6733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#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Descrição do Requisito Funcional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RF01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Transporte de mensagens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RF02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Gerenciamento filas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RF03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Gerenciamento subscribers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RF04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Reenvio de mensagens/Durabilidade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RF05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Prover opção de escolha de tipo de fila: point-to-point e publish-subscribe channels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0" name="Google Shape;90;p5"/>
          <p:cNvGraphicFramePr/>
          <p:nvPr/>
        </p:nvGraphicFramePr>
        <p:xfrm>
          <a:off x="755576" y="41145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{3F5839AD-5A2E-411C-9936-7A9E9EEB7BB4}</a:tableStyleId>
              </a:tblPr>
              <a:tblGrid>
                <a:gridCol w="1008100"/>
                <a:gridCol w="6624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#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Descrição do Requisito</a:t>
                      </a:r>
                      <a:r>
                        <a:rPr lang="pt-BR" sz="1800"/>
                        <a:t> Não-Funcional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RNF01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Tolerância a falhas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RNF02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Ordem de mensagens</a:t>
                      </a:r>
                      <a:r>
                        <a:rPr lang="pt-BR" sz="1800">
                          <a:solidFill>
                            <a:srgbClr val="000000"/>
                          </a:solidFill>
                        </a:rPr>
                        <a:t> (provido pelo framework)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RNF03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Prover e</a:t>
                      </a:r>
                      <a:r>
                        <a:rPr lang="pt-BR" sz="1800"/>
                        <a:t>nvio e </a:t>
                      </a:r>
                      <a:r>
                        <a:rPr lang="pt-BR" sz="1800">
                          <a:solidFill>
                            <a:srgbClr val="FF0000"/>
                          </a:solidFill>
                        </a:rPr>
                        <a:t>recebimento</a:t>
                      </a:r>
                      <a:r>
                        <a:rPr lang="pt-BR" sz="1800"/>
                        <a:t> de mensagens assincronamente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RNF04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Permitir o suporte a consumidores competidores (point-to-point channel)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744538" y="188913"/>
            <a:ext cx="7283450" cy="739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 </a:t>
            </a:r>
            <a:endParaRPr/>
          </a:p>
        </p:txBody>
      </p:sp>
      <p:sp>
        <p:nvSpPr>
          <p:cNvPr id="96" name="Google Shape;96;p6"/>
          <p:cNvSpPr txBox="1"/>
          <p:nvPr>
            <p:ph idx="1" type="body"/>
          </p:nvPr>
        </p:nvSpPr>
        <p:spPr>
          <a:xfrm>
            <a:off x="757238" y="1071546"/>
            <a:ext cx="7918450" cy="52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pt-BR"/>
              <a:t>Transparências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pt-BR"/>
              <a:t>Concorrência, falhas </a:t>
            </a:r>
            <a:r>
              <a:rPr lang="pt-BR"/>
              <a:t>(providos pelo framework)</a:t>
            </a:r>
            <a:endParaRPr/>
          </a:p>
          <a:p>
            <a:pPr indent="-146050" lvl="1" marL="742950" rtl="0" algn="l">
              <a:spcBef>
                <a:spcPts val="44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bd6cc3d01_0_0"/>
          <p:cNvSpPr txBox="1"/>
          <p:nvPr>
            <p:ph type="title"/>
          </p:nvPr>
        </p:nvSpPr>
        <p:spPr>
          <a:xfrm>
            <a:off x="744538" y="188913"/>
            <a:ext cx="7283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</a:t>
            </a:r>
            <a:endParaRPr/>
          </a:p>
        </p:txBody>
      </p:sp>
      <p:sp>
        <p:nvSpPr>
          <p:cNvPr id="102" name="Google Shape;102;g6bd6cc3d01_0_0"/>
          <p:cNvSpPr/>
          <p:nvPr/>
        </p:nvSpPr>
        <p:spPr>
          <a:xfrm>
            <a:off x="1430350" y="1674700"/>
            <a:ext cx="1370700" cy="90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Connection</a:t>
            </a:r>
            <a:endParaRPr/>
          </a:p>
        </p:txBody>
      </p:sp>
      <p:sp>
        <p:nvSpPr>
          <p:cNvPr id="103" name="Google Shape;103;g6bd6cc3d01_0_0"/>
          <p:cNvSpPr/>
          <p:nvPr/>
        </p:nvSpPr>
        <p:spPr>
          <a:xfrm>
            <a:off x="3285850" y="1674700"/>
            <a:ext cx="1370700" cy="90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Subscription</a:t>
            </a:r>
            <a:endParaRPr/>
          </a:p>
        </p:txBody>
      </p:sp>
      <p:sp>
        <p:nvSpPr>
          <p:cNvPr id="104" name="Google Shape;104;g6bd6cc3d01_0_0"/>
          <p:cNvSpPr/>
          <p:nvPr/>
        </p:nvSpPr>
        <p:spPr>
          <a:xfrm>
            <a:off x="2268550" y="4021225"/>
            <a:ext cx="1370700" cy="90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Connection &lt;Actor&gt;</a:t>
            </a:r>
            <a:endParaRPr/>
          </a:p>
        </p:txBody>
      </p:sp>
      <p:sp>
        <p:nvSpPr>
          <p:cNvPr id="105" name="Google Shape;105;g6bd6cc3d01_0_0"/>
          <p:cNvSpPr/>
          <p:nvPr/>
        </p:nvSpPr>
        <p:spPr>
          <a:xfrm>
            <a:off x="6372850" y="4120400"/>
            <a:ext cx="1370700" cy="90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Channel Manager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&lt;Actor&gt;</a:t>
            </a:r>
            <a:endParaRPr/>
          </a:p>
        </p:txBody>
      </p:sp>
      <p:sp>
        <p:nvSpPr>
          <p:cNvPr id="106" name="Google Shape;106;g6bd6cc3d01_0_0"/>
          <p:cNvSpPr/>
          <p:nvPr/>
        </p:nvSpPr>
        <p:spPr>
          <a:xfrm>
            <a:off x="5447763" y="2902988"/>
            <a:ext cx="1370700" cy="90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Channel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&lt;Actor&gt;</a:t>
            </a:r>
            <a:endParaRPr/>
          </a:p>
        </p:txBody>
      </p:sp>
      <p:sp>
        <p:nvSpPr>
          <p:cNvPr id="107" name="Google Shape;107;g6bd6cc3d01_0_0"/>
          <p:cNvSpPr/>
          <p:nvPr/>
        </p:nvSpPr>
        <p:spPr>
          <a:xfrm>
            <a:off x="7331625" y="2902975"/>
            <a:ext cx="1370700" cy="90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Subscriber Wrapper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&lt;Actor&gt;</a:t>
            </a:r>
            <a:endParaRPr/>
          </a:p>
        </p:txBody>
      </p:sp>
      <p:cxnSp>
        <p:nvCxnSpPr>
          <p:cNvPr id="108" name="Google Shape;108;g6bd6cc3d01_0_0"/>
          <p:cNvCxnSpPr/>
          <p:nvPr/>
        </p:nvCxnSpPr>
        <p:spPr>
          <a:xfrm>
            <a:off x="4918125" y="1404775"/>
            <a:ext cx="16500" cy="380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g6bd6cc3d01_0_0"/>
          <p:cNvCxnSpPr/>
          <p:nvPr/>
        </p:nvCxnSpPr>
        <p:spPr>
          <a:xfrm flipH="1" rot="10800000">
            <a:off x="985100" y="2759950"/>
            <a:ext cx="7717200" cy="6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g6bd6cc3d01_0_0"/>
          <p:cNvSpPr txBox="1"/>
          <p:nvPr/>
        </p:nvSpPr>
        <p:spPr>
          <a:xfrm>
            <a:off x="1778300" y="943900"/>
            <a:ext cx="20325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Client</a:t>
            </a:r>
            <a:endParaRPr b="1"/>
          </a:p>
        </p:txBody>
      </p:sp>
      <p:sp>
        <p:nvSpPr>
          <p:cNvPr id="111" name="Google Shape;111;g6bd6cc3d01_0_0"/>
          <p:cNvSpPr txBox="1"/>
          <p:nvPr/>
        </p:nvSpPr>
        <p:spPr>
          <a:xfrm>
            <a:off x="5782525" y="943900"/>
            <a:ext cx="20325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Broker</a:t>
            </a:r>
            <a:endParaRPr b="1"/>
          </a:p>
        </p:txBody>
      </p:sp>
      <p:sp>
        <p:nvSpPr>
          <p:cNvPr id="112" name="Google Shape;112;g6bd6cc3d01_0_0"/>
          <p:cNvSpPr txBox="1"/>
          <p:nvPr/>
        </p:nvSpPr>
        <p:spPr>
          <a:xfrm rot="-5400000">
            <a:off x="35825" y="1701250"/>
            <a:ext cx="13707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Application</a:t>
            </a:r>
            <a:endParaRPr/>
          </a:p>
        </p:txBody>
      </p:sp>
      <p:sp>
        <p:nvSpPr>
          <p:cNvPr id="113" name="Google Shape;113;g6bd6cc3d01_0_0"/>
          <p:cNvSpPr txBox="1"/>
          <p:nvPr/>
        </p:nvSpPr>
        <p:spPr>
          <a:xfrm rot="-5400000">
            <a:off x="35825" y="3530050"/>
            <a:ext cx="13707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Invocation</a:t>
            </a:r>
            <a:endParaRPr/>
          </a:p>
        </p:txBody>
      </p:sp>
      <p:sp>
        <p:nvSpPr>
          <p:cNvPr id="114" name="Google Shape;114;g6bd6cc3d01_0_0"/>
          <p:cNvSpPr/>
          <p:nvPr/>
        </p:nvSpPr>
        <p:spPr>
          <a:xfrm>
            <a:off x="668350" y="5484700"/>
            <a:ext cx="1370700" cy="9090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messages</a:t>
            </a:r>
            <a:endParaRPr/>
          </a:p>
        </p:txBody>
      </p:sp>
      <p:sp>
        <p:nvSpPr>
          <p:cNvPr id="115" name="Google Shape;115;g6bd6cc3d01_0_0"/>
          <p:cNvSpPr/>
          <p:nvPr/>
        </p:nvSpPr>
        <p:spPr>
          <a:xfrm>
            <a:off x="668350" y="5288100"/>
            <a:ext cx="357300" cy="1968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6bd6cc3d01_0_0"/>
          <p:cNvSpPr/>
          <p:nvPr/>
        </p:nvSpPr>
        <p:spPr>
          <a:xfrm>
            <a:off x="2268550" y="5484700"/>
            <a:ext cx="1370700" cy="9090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utils</a:t>
            </a:r>
            <a:endParaRPr/>
          </a:p>
        </p:txBody>
      </p:sp>
      <p:sp>
        <p:nvSpPr>
          <p:cNvPr id="117" name="Google Shape;117;g6bd6cc3d01_0_0"/>
          <p:cNvSpPr/>
          <p:nvPr/>
        </p:nvSpPr>
        <p:spPr>
          <a:xfrm>
            <a:off x="2268550" y="5288100"/>
            <a:ext cx="357300" cy="1968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6bd6cc3d01_0_0"/>
          <p:cNvSpPr/>
          <p:nvPr/>
        </p:nvSpPr>
        <p:spPr>
          <a:xfrm>
            <a:off x="3792550" y="5484700"/>
            <a:ext cx="1370700" cy="9090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examples</a:t>
            </a:r>
            <a:endParaRPr/>
          </a:p>
        </p:txBody>
      </p:sp>
      <p:sp>
        <p:nvSpPr>
          <p:cNvPr id="119" name="Google Shape;119;g6bd6cc3d01_0_0"/>
          <p:cNvSpPr/>
          <p:nvPr/>
        </p:nvSpPr>
        <p:spPr>
          <a:xfrm>
            <a:off x="3792550" y="5288100"/>
            <a:ext cx="357300" cy="1968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/>
          <p:nvPr>
            <p:ph type="title"/>
          </p:nvPr>
        </p:nvSpPr>
        <p:spPr>
          <a:xfrm>
            <a:off x="744538" y="188913"/>
            <a:ext cx="7283450" cy="739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</a:t>
            </a:r>
            <a:endParaRPr/>
          </a:p>
        </p:txBody>
      </p:sp>
      <p:sp>
        <p:nvSpPr>
          <p:cNvPr id="125" name="Google Shape;125;p12"/>
          <p:cNvSpPr txBox="1"/>
          <p:nvPr>
            <p:ph idx="1" type="body"/>
          </p:nvPr>
        </p:nvSpPr>
        <p:spPr>
          <a:xfrm>
            <a:off x="427025" y="5929297"/>
            <a:ext cx="7918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0" lang="pt-BR" u="sng">
                <a:hlinkClick r:id="rId3"/>
              </a:rPr>
              <a:t>https://github.com/actor-mq</a:t>
            </a:r>
            <a:endParaRPr b="0"/>
          </a:p>
        </p:txBody>
      </p:sp>
      <p:pic>
        <p:nvPicPr>
          <p:cNvPr id="126" name="Google Shape;12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163" y="1081070"/>
            <a:ext cx="8197665" cy="4695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bd6cc3d01_0_46"/>
          <p:cNvSpPr txBox="1"/>
          <p:nvPr>
            <p:ph type="title"/>
          </p:nvPr>
        </p:nvSpPr>
        <p:spPr>
          <a:xfrm>
            <a:off x="744538" y="188913"/>
            <a:ext cx="7283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</a:t>
            </a:r>
            <a:endParaRPr/>
          </a:p>
        </p:txBody>
      </p:sp>
      <p:pic>
        <p:nvPicPr>
          <p:cNvPr id="132" name="Google Shape;132;g6bd6cc3d01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425" y="928675"/>
            <a:ext cx="6367700" cy="53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6bd6cc3d01_0_39"/>
          <p:cNvSpPr txBox="1"/>
          <p:nvPr>
            <p:ph type="title"/>
          </p:nvPr>
        </p:nvSpPr>
        <p:spPr>
          <a:xfrm>
            <a:off x="744538" y="188913"/>
            <a:ext cx="7283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</a:t>
            </a:r>
            <a:endParaRPr/>
          </a:p>
        </p:txBody>
      </p:sp>
      <p:sp>
        <p:nvSpPr>
          <p:cNvPr id="138" name="Google Shape;138;g6bd6cc3d01_0_39"/>
          <p:cNvSpPr txBox="1"/>
          <p:nvPr>
            <p:ph idx="1" type="body"/>
          </p:nvPr>
        </p:nvSpPr>
        <p:spPr>
          <a:xfrm>
            <a:off x="612750" y="5089047"/>
            <a:ext cx="7918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Sequência - Publishing</a:t>
            </a:r>
            <a:endParaRPr/>
          </a:p>
        </p:txBody>
      </p:sp>
      <p:pic>
        <p:nvPicPr>
          <p:cNvPr id="139" name="Google Shape;139;g6bd6cc3d01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3050"/>
            <a:ext cx="8839197" cy="3428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6bd6cc3d01_0_32"/>
          <p:cNvSpPr txBox="1"/>
          <p:nvPr>
            <p:ph type="title"/>
          </p:nvPr>
        </p:nvSpPr>
        <p:spPr>
          <a:xfrm>
            <a:off x="744538" y="188913"/>
            <a:ext cx="7283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</a:t>
            </a:r>
            <a:endParaRPr/>
          </a:p>
        </p:txBody>
      </p:sp>
      <p:sp>
        <p:nvSpPr>
          <p:cNvPr id="145" name="Google Shape;145;g6bd6cc3d01_0_32"/>
          <p:cNvSpPr txBox="1"/>
          <p:nvPr>
            <p:ph idx="1" type="body"/>
          </p:nvPr>
        </p:nvSpPr>
        <p:spPr>
          <a:xfrm>
            <a:off x="612750" y="5089047"/>
            <a:ext cx="79185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Sequência - Subscribing</a:t>
            </a:r>
            <a:endParaRPr/>
          </a:p>
        </p:txBody>
      </p:sp>
      <p:pic>
        <p:nvPicPr>
          <p:cNvPr id="146" name="Google Shape;146;g6bd6cc3d01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05238"/>
            <a:ext cx="8839198" cy="3272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6bd6cc3d01_0_25"/>
          <p:cNvSpPr txBox="1"/>
          <p:nvPr>
            <p:ph type="title"/>
          </p:nvPr>
        </p:nvSpPr>
        <p:spPr>
          <a:xfrm>
            <a:off x="744538" y="188913"/>
            <a:ext cx="7283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</a:t>
            </a:r>
            <a:endParaRPr/>
          </a:p>
        </p:txBody>
      </p:sp>
      <p:sp>
        <p:nvSpPr>
          <p:cNvPr id="152" name="Google Shape;152;g6bd6cc3d01_0_25"/>
          <p:cNvSpPr txBox="1"/>
          <p:nvPr>
            <p:ph idx="1" type="body"/>
          </p:nvPr>
        </p:nvSpPr>
        <p:spPr>
          <a:xfrm>
            <a:off x="757238" y="1071546"/>
            <a:ext cx="7918500" cy="5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b="0" lang="pt-BR"/>
              <a:t>Padrões: Hohpe, G., &amp; Woolf, B. (2004). Enterprise integration patterns: Designing, building, and deploying messaging solutions. Addison-Wesley Professional.</a:t>
            </a:r>
            <a:endParaRPr b="0"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pt-BR"/>
              <a:t>Message Channel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pt-BR"/>
              <a:t>Point-to-point/publish-subscribe channel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pt-BR"/>
              <a:t>Message routing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pt-BR"/>
              <a:t>Event-driven consumer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pt-BR">
                <a:solidFill>
                  <a:schemeClr val="dk1"/>
                </a:solidFill>
              </a:rPr>
              <a:t>Competing consumers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b="0" lang="pt-BR"/>
              <a:t>Völter, M., Kircher, M., &amp; Zdun, U. (2013). Remoting patterns: foundations of enterprise, internet and realtime distributed object middleware. John Wiley &amp; Sons.</a:t>
            </a:r>
            <a:endParaRPr b="0"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pt-BR"/>
              <a:t>Lifecycle manager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pt-BR"/>
              <a:t>Fire and Forget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pt-BR">
                <a:solidFill>
                  <a:schemeClr val="dk1"/>
                </a:solidFill>
              </a:rPr>
              <a:t>Message Queue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bd6cc3d01_0_60"/>
          <p:cNvSpPr txBox="1"/>
          <p:nvPr>
            <p:ph type="title"/>
          </p:nvPr>
        </p:nvSpPr>
        <p:spPr>
          <a:xfrm>
            <a:off x="744538" y="188913"/>
            <a:ext cx="7283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</a:t>
            </a:r>
            <a:endParaRPr/>
          </a:p>
        </p:txBody>
      </p:sp>
      <p:sp>
        <p:nvSpPr>
          <p:cNvPr id="158" name="Google Shape;158;g6bd6cc3d01_0_60"/>
          <p:cNvSpPr txBox="1"/>
          <p:nvPr>
            <p:ph idx="1" type="body"/>
          </p:nvPr>
        </p:nvSpPr>
        <p:spPr>
          <a:xfrm>
            <a:off x="757238" y="1071546"/>
            <a:ext cx="7918500" cy="5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b="0" lang="pt-BR"/>
              <a:t>A implementação foi feita em Go utilizando o framework Proto.Actor e Visual Studio Code</a:t>
            </a:r>
            <a:endParaRPr b="0"/>
          </a:p>
          <a:p>
            <a:pPr indent="-312419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b="0" lang="pt-BR"/>
              <a:t>As mensagens trocadas remotamente foram compiladas através do compilador protobuf (necessário a instalação) e https://github.com/gogo/protobuf </a:t>
            </a:r>
            <a:r>
              <a:rPr b="0" lang="pt-BR">
                <a:solidFill>
                  <a:srgbClr val="FF0000"/>
                </a:solidFill>
              </a:rPr>
              <a:t>(1.2.1)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type="title"/>
          </p:nvPr>
        </p:nvSpPr>
        <p:spPr>
          <a:xfrm>
            <a:off x="744538" y="188913"/>
            <a:ext cx="7283450" cy="739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de Desempenho</a:t>
            </a:r>
            <a:endParaRPr/>
          </a:p>
        </p:txBody>
      </p:sp>
      <p:sp>
        <p:nvSpPr>
          <p:cNvPr id="164" name="Google Shape;164;p14"/>
          <p:cNvSpPr txBox="1"/>
          <p:nvPr>
            <p:ph idx="1" type="body"/>
          </p:nvPr>
        </p:nvSpPr>
        <p:spPr>
          <a:xfrm>
            <a:off x="757238" y="1071546"/>
            <a:ext cx="7918450" cy="52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76"/>
              <a:buChar char="■"/>
            </a:pPr>
            <a:r>
              <a:rPr lang="pt-BR" sz="2220"/>
              <a:t>Objetivo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7"/>
              </a:spcBef>
              <a:spcAft>
                <a:spcPts val="0"/>
              </a:spcAft>
              <a:buSzPts val="2035"/>
              <a:buFont typeface="Arial"/>
              <a:buChar char="–"/>
            </a:pPr>
            <a:r>
              <a:rPr lang="pt-BR" sz="2035"/>
              <a:t>Avaliar o desempenho do middleware em relação ao </a:t>
            </a:r>
            <a:r>
              <a:rPr b="1" lang="pt-BR" sz="2035"/>
              <a:t>tempo de resposta</a:t>
            </a:r>
            <a:r>
              <a:rPr lang="pt-BR" sz="2035"/>
              <a:t> ao processar diferente números de mensagens</a:t>
            </a:r>
            <a:endParaRPr sz="2035"/>
          </a:p>
          <a:p>
            <a:pPr indent="-285750" lvl="1" marL="742950" rtl="0" algn="l">
              <a:lnSpc>
                <a:spcPct val="90000"/>
              </a:lnSpc>
              <a:spcBef>
                <a:spcPts val="407"/>
              </a:spcBef>
              <a:spcAft>
                <a:spcPts val="0"/>
              </a:spcAft>
              <a:buSzPts val="2035"/>
              <a:buChar char="–"/>
            </a:pPr>
            <a:r>
              <a:rPr lang="pt-BR" sz="2035"/>
              <a:t>RabbitMQ</a:t>
            </a:r>
            <a:endParaRPr sz="2035"/>
          </a:p>
          <a:p>
            <a:pPr indent="-230123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SzPts val="1776"/>
              <a:buNone/>
            </a:pPr>
            <a:r>
              <a:t/>
            </a:r>
            <a:endParaRPr sz="2220"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SzPts val="1776"/>
              <a:buChar char="■"/>
            </a:pPr>
            <a:r>
              <a:rPr lang="pt-BR" sz="2220"/>
              <a:t>Serviço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7"/>
              </a:spcBef>
              <a:spcAft>
                <a:spcPts val="0"/>
              </a:spcAft>
              <a:buSzPts val="2035"/>
              <a:buFont typeface="Arial"/>
              <a:buChar char="–"/>
            </a:pPr>
            <a:r>
              <a:rPr lang="pt-BR" sz="2035"/>
              <a:t>Request-response</a:t>
            </a:r>
            <a:endParaRPr sz="2035"/>
          </a:p>
          <a:p>
            <a:pPr indent="-243522" lvl="2" marL="1143000" rtl="0" algn="l">
              <a:lnSpc>
                <a:spcPct val="90000"/>
              </a:lnSpc>
              <a:spcBef>
                <a:spcPts val="407"/>
              </a:spcBef>
              <a:spcAft>
                <a:spcPts val="0"/>
              </a:spcAft>
              <a:buSzPts val="2035"/>
              <a:buChar char="▪"/>
            </a:pPr>
            <a:r>
              <a:rPr lang="pt-BR" sz="2035"/>
              <a:t>Criptografar texto (MD5)</a:t>
            </a:r>
            <a:endParaRPr sz="2035"/>
          </a:p>
          <a:p>
            <a:pPr indent="-243522" lvl="2" marL="1143000" rtl="0" algn="l">
              <a:lnSpc>
                <a:spcPct val="90000"/>
              </a:lnSpc>
              <a:spcBef>
                <a:spcPts val="407"/>
              </a:spcBef>
              <a:spcAft>
                <a:spcPts val="0"/>
              </a:spcAft>
              <a:buSzPts val="2035"/>
              <a:buChar char="▪"/>
            </a:pPr>
            <a:r>
              <a:rPr lang="pt-BR" sz="2035"/>
              <a:t>“Hello World!”</a:t>
            </a:r>
            <a:endParaRPr sz="2035"/>
          </a:p>
          <a:p>
            <a:pPr indent="-156527" lvl="1" marL="742950" rtl="0" algn="l">
              <a:lnSpc>
                <a:spcPct val="90000"/>
              </a:lnSpc>
              <a:spcBef>
                <a:spcPts val="407"/>
              </a:spcBef>
              <a:spcAft>
                <a:spcPts val="0"/>
              </a:spcAft>
              <a:buSzPts val="2035"/>
              <a:buFont typeface="Arial"/>
              <a:buNone/>
            </a:pPr>
            <a:r>
              <a:t/>
            </a:r>
            <a:endParaRPr sz="2035"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SzPts val="1776"/>
              <a:buChar char="■"/>
            </a:pPr>
            <a:r>
              <a:rPr lang="pt-BR" sz="2220"/>
              <a:t>Métrica</a:t>
            </a:r>
            <a:endParaRPr sz="2220"/>
          </a:p>
          <a:p>
            <a:pPr indent="-287019" lvl="1" marL="74295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SzPts val="2220"/>
              <a:buChar char="–"/>
            </a:pPr>
            <a:r>
              <a:rPr lang="pt-BR" sz="2220"/>
              <a:t>Tempo de resposta</a:t>
            </a:r>
            <a:endParaRPr sz="222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6bdf072346_0_5"/>
          <p:cNvSpPr txBox="1"/>
          <p:nvPr>
            <p:ph type="title"/>
          </p:nvPr>
        </p:nvSpPr>
        <p:spPr>
          <a:xfrm>
            <a:off x="744538" y="188913"/>
            <a:ext cx="7283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de Desempenho</a:t>
            </a:r>
            <a:endParaRPr/>
          </a:p>
        </p:txBody>
      </p:sp>
      <p:graphicFrame>
        <p:nvGraphicFramePr>
          <p:cNvPr id="170" name="Google Shape;170;g6bdf072346_0_5"/>
          <p:cNvGraphicFramePr/>
          <p:nvPr/>
        </p:nvGraphicFramePr>
        <p:xfrm>
          <a:off x="952500" y="123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{E43F8553-B0B9-4739-A8DE-1176170432C8}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Parâmetros do Sistema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Valor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Processador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Intel(R) Core(™) i5-7200 2.5GHz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Memória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6GB DDR4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1TB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Energia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Conectado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SO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Linux Mint 19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1" name="Google Shape;171;g6bdf072346_0_5"/>
          <p:cNvGraphicFramePr/>
          <p:nvPr/>
        </p:nvGraphicFramePr>
        <p:xfrm>
          <a:off x="952500" y="390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{E43F8553-B0B9-4739-A8DE-1176170432C8}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Parâmetros de Carga de Trabalho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Níveis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Número de mensagens enviadas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1000, 5000, 10000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6bdf072346_0_18"/>
          <p:cNvSpPr txBox="1"/>
          <p:nvPr>
            <p:ph type="title"/>
          </p:nvPr>
        </p:nvSpPr>
        <p:spPr>
          <a:xfrm>
            <a:off x="744538" y="188913"/>
            <a:ext cx="7283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de Desempenho</a:t>
            </a:r>
            <a:endParaRPr/>
          </a:p>
        </p:txBody>
      </p:sp>
      <p:sp>
        <p:nvSpPr>
          <p:cNvPr id="177" name="Google Shape;177;g6bdf072346_0_18"/>
          <p:cNvSpPr txBox="1"/>
          <p:nvPr>
            <p:ph idx="1" type="body"/>
          </p:nvPr>
        </p:nvSpPr>
        <p:spPr>
          <a:xfrm>
            <a:off x="757238" y="1071546"/>
            <a:ext cx="7918500" cy="5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76"/>
              <a:buChar char="■"/>
            </a:pPr>
            <a:r>
              <a:rPr lang="pt-BR" sz="2220"/>
              <a:t>Técnica de Avaliação</a:t>
            </a:r>
            <a:endParaRPr sz="2220"/>
          </a:p>
          <a:p>
            <a:pPr indent="-287019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20"/>
              <a:buChar char="–"/>
            </a:pPr>
            <a:r>
              <a:rPr b="1" lang="pt-BR" sz="2220"/>
              <a:t>Medição </a:t>
            </a:r>
            <a:r>
              <a:rPr lang="pt-BR" sz="2220"/>
              <a:t>do tempo de resposta de requisições em nanossegundos</a:t>
            </a:r>
            <a:endParaRPr sz="2220"/>
          </a:p>
          <a:p>
            <a:pPr indent="-39243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20"/>
              <a:buChar char="■"/>
            </a:pPr>
            <a:r>
              <a:rPr lang="pt-BR" sz="2220"/>
              <a:t>Carga de trabalho</a:t>
            </a:r>
            <a:endParaRPr sz="2220"/>
          </a:p>
          <a:p>
            <a:pPr indent="-287019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20"/>
              <a:buChar char="–"/>
            </a:pPr>
            <a:r>
              <a:rPr lang="pt-BR" sz="2220"/>
              <a:t>Cliente irá mandar sucessivas mensagens contendo uma string específica para ser criptografada. O número de mensagens enviadas aumenta a cada rodada do experimento.</a:t>
            </a:r>
            <a:endParaRPr sz="222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6bdf072346_0_23"/>
          <p:cNvSpPr txBox="1"/>
          <p:nvPr>
            <p:ph type="title"/>
          </p:nvPr>
        </p:nvSpPr>
        <p:spPr>
          <a:xfrm>
            <a:off x="744538" y="188913"/>
            <a:ext cx="7283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de Desempenho</a:t>
            </a:r>
            <a:endParaRPr/>
          </a:p>
        </p:txBody>
      </p:sp>
      <p:pic>
        <p:nvPicPr>
          <p:cNvPr id="183" name="Google Shape;183;g6bdf072346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100" y="1690726"/>
            <a:ext cx="6453800" cy="32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bdf072346_0_31"/>
          <p:cNvSpPr txBox="1"/>
          <p:nvPr>
            <p:ph type="title"/>
          </p:nvPr>
        </p:nvSpPr>
        <p:spPr>
          <a:xfrm>
            <a:off x="744538" y="188913"/>
            <a:ext cx="7283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de Desempenho</a:t>
            </a:r>
            <a:endParaRPr/>
          </a:p>
        </p:txBody>
      </p:sp>
      <p:graphicFrame>
        <p:nvGraphicFramePr>
          <p:cNvPr id="189" name="Google Shape;189;g6bdf072346_0_31"/>
          <p:cNvGraphicFramePr/>
          <p:nvPr/>
        </p:nvGraphicFramePr>
        <p:xfrm>
          <a:off x="1107100" y="201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{E43F8553-B0B9-4739-A8DE-1176170432C8}</a:tableStyleId>
              </a:tblPr>
              <a:tblGrid>
                <a:gridCol w="1732450"/>
                <a:gridCol w="1732450"/>
                <a:gridCol w="1732450"/>
                <a:gridCol w="1732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# de Mensagens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1000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5000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10000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Média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985760.20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934416.24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884139.99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Desvio Padrão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737064.83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537682.67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421456.51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0" name="Google Shape;190;g6bdf072346_0_31"/>
          <p:cNvSpPr txBox="1"/>
          <p:nvPr/>
        </p:nvSpPr>
        <p:spPr>
          <a:xfrm>
            <a:off x="3813150" y="1515275"/>
            <a:ext cx="15177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ActorMQ</a:t>
            </a:r>
            <a:endParaRPr b="1"/>
          </a:p>
        </p:txBody>
      </p:sp>
      <p:graphicFrame>
        <p:nvGraphicFramePr>
          <p:cNvPr id="191" name="Google Shape;191;g6bdf072346_0_31"/>
          <p:cNvGraphicFramePr/>
          <p:nvPr/>
        </p:nvGraphicFramePr>
        <p:xfrm>
          <a:off x="1107100" y="399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{E43F8553-B0B9-4739-A8DE-1176170432C8}</a:tableStyleId>
              </a:tblPr>
              <a:tblGrid>
                <a:gridCol w="1732450"/>
                <a:gridCol w="1732450"/>
                <a:gridCol w="1732450"/>
                <a:gridCol w="1732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# de Mensagens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1000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5000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10000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Média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537540.60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565286.33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539275.48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Desvio Padrão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474879.41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444621.16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639671.83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2" name="Google Shape;192;g6bdf072346_0_31"/>
          <p:cNvSpPr txBox="1"/>
          <p:nvPr/>
        </p:nvSpPr>
        <p:spPr>
          <a:xfrm>
            <a:off x="3813150" y="3496475"/>
            <a:ext cx="15177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Rabbit</a:t>
            </a:r>
            <a:r>
              <a:rPr b="1" lang="pt-BR"/>
              <a:t>MQ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6bdf072346_0_52"/>
          <p:cNvSpPr txBox="1"/>
          <p:nvPr>
            <p:ph type="title"/>
          </p:nvPr>
        </p:nvSpPr>
        <p:spPr>
          <a:xfrm>
            <a:off x="744538" y="188913"/>
            <a:ext cx="7283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de Desempenho</a:t>
            </a:r>
            <a:endParaRPr/>
          </a:p>
        </p:txBody>
      </p:sp>
      <p:sp>
        <p:nvSpPr>
          <p:cNvPr id="198" name="Google Shape;198;g6bdf072346_0_52"/>
          <p:cNvSpPr txBox="1"/>
          <p:nvPr>
            <p:ph idx="1" type="body"/>
          </p:nvPr>
        </p:nvSpPr>
        <p:spPr>
          <a:xfrm>
            <a:off x="757238" y="1071546"/>
            <a:ext cx="7918500" cy="5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76"/>
              <a:buChar char="■"/>
            </a:pPr>
            <a:r>
              <a:rPr lang="pt-BR" sz="2220"/>
              <a:t>RabbitMQ </a:t>
            </a:r>
            <a:r>
              <a:rPr b="0" lang="pt-BR" sz="2220"/>
              <a:t>se mostrou superior em todos os três níveis do fator avaliado no dado cenário.</a:t>
            </a:r>
            <a:endParaRPr b="0" sz="222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/>
          <p:nvPr>
            <p:ph type="title"/>
          </p:nvPr>
        </p:nvSpPr>
        <p:spPr>
          <a:xfrm>
            <a:off x="744538" y="188913"/>
            <a:ext cx="7283450" cy="739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/>
          </a:p>
        </p:txBody>
      </p:sp>
      <p:sp>
        <p:nvSpPr>
          <p:cNvPr id="204" name="Google Shape;204;p15"/>
          <p:cNvSpPr txBox="1"/>
          <p:nvPr>
            <p:ph idx="1" type="body"/>
          </p:nvPr>
        </p:nvSpPr>
        <p:spPr>
          <a:xfrm>
            <a:off x="757238" y="842946"/>
            <a:ext cx="7918500" cy="5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67969" lvl="1" marL="742950" rtl="0" algn="l">
              <a:spcBef>
                <a:spcPts val="0"/>
              </a:spcBef>
              <a:spcAft>
                <a:spcPts val="0"/>
              </a:spcAft>
              <a:buSzPts val="1920"/>
              <a:buChar char="–"/>
            </a:pPr>
            <a:r>
              <a:rPr lang="pt-BR"/>
              <a:t>Assíncrono/event-driven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pt-BR"/>
              <a:t>Oferece dois tipos de channels/queues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pt-BR"/>
              <a:t>publish-subscribe / point-to-point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pt-BR"/>
              <a:t>Durabilidade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pt-BR"/>
              <a:t>Mensagens do cliente são guardadas enquanto o mesmo </a:t>
            </a:r>
            <a:r>
              <a:rPr lang="pt-BR"/>
              <a:t>encontra</a:t>
            </a:r>
            <a:r>
              <a:rPr lang="pt-BR"/>
              <a:t>-se temporariamente desconectado.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pt-BR"/>
              <a:t>Limitaçãos</a:t>
            </a:r>
            <a:endParaRPr/>
          </a:p>
          <a:p>
            <a:pPr indent="-267969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–"/>
            </a:pPr>
            <a:r>
              <a:rPr lang="pt-BR"/>
              <a:t>Garantia de entrega (fire and forget)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920"/>
              <a:buChar char="■"/>
            </a:pPr>
            <a:r>
              <a:rPr lang="pt-BR"/>
              <a:t>Lições Aprendidas</a:t>
            </a:r>
            <a:endParaRPr/>
          </a:p>
          <a:p>
            <a:pPr indent="-267969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–"/>
            </a:pPr>
            <a:r>
              <a:rPr lang="pt-BR"/>
              <a:t>Utilizar um modelo que já é orientado a mensagens facilita a implementação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pt-BR"/>
              <a:t>Dificuldades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200"/>
              <a:buChar char="–"/>
            </a:pPr>
            <a:r>
              <a:rPr lang="pt-BR"/>
              <a:t>Maturidade do framework (documentação)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200"/>
              <a:buChar char="–"/>
            </a:pPr>
            <a:r>
              <a:rPr lang="pt-BR"/>
              <a:t>Versionamento em Go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/>
        </p:nvSpPr>
        <p:spPr>
          <a:xfrm>
            <a:off x="2483768" y="3030051"/>
            <a:ext cx="459092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390000"/>
                </a:solidFill>
                <a:latin typeface="Tahoma"/>
                <a:ea typeface="Tahoma"/>
                <a:cs typeface="Tahoma"/>
                <a:sym typeface="Tahoma"/>
              </a:rPr>
              <a:t>Fim dos Slides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8C0000"/>
      </a:dk1>
      <a:lt1>
        <a:srgbClr val="FFFFFF"/>
      </a:lt1>
      <a:dk2>
        <a:srgbClr val="720000"/>
      </a:dk2>
      <a:lt2>
        <a:srgbClr val="FFFFCC"/>
      </a:lt2>
      <a:accent1>
        <a:srgbClr val="FF3300"/>
      </a:accent1>
      <a:accent2>
        <a:srgbClr val="BE7960"/>
      </a:accent2>
      <a:accent3>
        <a:srgbClr val="BCAAAA"/>
      </a:accent3>
      <a:accent4>
        <a:srgbClr val="DADADA"/>
      </a:accent4>
      <a:accent5>
        <a:srgbClr val="FFADAA"/>
      </a:accent5>
      <a:accent6>
        <a:srgbClr val="AC6D56"/>
      </a:accent6>
      <a:hlink>
        <a:srgbClr val="FFCC66"/>
      </a:hlink>
      <a:folHlink>
        <a:srgbClr val="FF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2009-04-16T13:33:18Z</dcterms:created>
  <dc:creator>win xp</dc:creator>
</cp:coreProperties>
</file>